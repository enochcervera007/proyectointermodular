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addicional (€)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126-4685-906D-9BBB8F7995C0}"/>
              </c:ext>
            </c:extLst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126-4685-906D-9BBB8F7995C0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9126-4685-906D-9BBB8F7995C0}"/>
              </c:ext>
            </c:extLst>
          </c:dPt>
          <c:dPt>
            <c:idx val="3"/>
            <c:invertIfNegative val="0"/>
            <c:bubble3D val="0"/>
            <c:spPr>
              <a:solidFill>
                <a:srgbClr val="991B1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126-4685-906D-9BBB8F7995C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Neteja</c:v>
                </c:pt>
                <c:pt idx="1">
                  <c:v>Taxa servei
viajero</c:v>
                </c:pt>
                <c:pt idx="2">
                  <c:v>Comissió
propietari</c:v>
                </c:pt>
                <c:pt idx="3">
                  <c:v>Total extra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14</c:v>
                </c:pt>
                <c:pt idx="2">
                  <c:v>11</c:v>
                </c:pt>
                <c:pt idx="3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126-4685-906D-9BBB8F7995C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Airbnb + competidors</c:v>
                </c:pt>
              </c:strCache>
            </c:strRef>
          </c:tx>
          <c:spPr>
            <a:ln w="38100" cap="flat">
              <a:solidFill>
                <a:srgbClr val="1B4F9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4F9B"/>
              </a:solidFill>
              <a:ln w="9525" cap="flat">
                <a:solidFill>
                  <a:srgbClr val="1B4F9B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150</c:v>
                </c:pt>
                <c:pt idx="1">
                  <c:v>95</c:v>
                </c:pt>
                <c:pt idx="2">
                  <c:v>130</c:v>
                </c:pt>
                <c:pt idx="3">
                  <c:v>175</c:v>
                </c:pt>
                <c:pt idx="4">
                  <c:v>210</c:v>
                </c:pt>
                <c:pt idx="5">
                  <c:v>260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960-40D8-ADB4-977ADCC4F1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Creixement esperat</c:v>
                </c:pt>
              </c:strCache>
            </c:strRef>
          </c:tx>
          <c:spPr>
            <a:ln w="38100" cap="flat">
              <a:solidFill>
                <a:srgbClr val="05966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5">
                  <c:v>260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8960-40D8-ADB4-977ADCC4F1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Distribució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1F7-4074-A554-BA6E24C64E5D}"/>
              </c:ext>
            </c:extLst>
          </c:dPt>
          <c:dPt>
            <c:idx val="1"/>
            <c:bubble3D val="0"/>
            <c:spPr>
              <a:solidFill>
                <a:srgbClr val="E2E8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1F7-4074-A554-BA6E24C64E5D}"/>
              </c:ext>
            </c:extLst>
          </c:dPt>
          <c:cat>
            <c:strRef>
              <c:f>Sheet1!$A$2:$A$3</c:f>
              <c:strCache>
                <c:ptCount val="2"/>
                <c:pt idx="0">
                  <c:v>Propietari (100%)</c:v>
                </c:pt>
                <c:pt idx="1">
                  <c:v>Comissió ApBarcelona (0%)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1F7-4074-A554-BA6E24C64E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Ingressos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604-42BC-AC21-500C2A08205C}"/>
              </c:ext>
            </c:extLst>
          </c:dPt>
          <c:dPt>
            <c:idx val="1"/>
            <c:bubble3D val="0"/>
            <c:spPr>
              <a:solidFill>
                <a:srgbClr val="1B4F9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604-42BC-AC21-500C2A08205C}"/>
              </c:ext>
            </c:extLst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604-42BC-AC21-500C2A08205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E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604-42BC-AC21-500C2A08205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E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604-42BC-AC21-500C2A08205C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E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604-42BC-AC21-500C2A08205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E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Plans Premium (55%)</c:v>
                </c:pt>
                <c:pt idx="1">
                  <c:v>Publicitat (30%)</c:v>
                </c:pt>
                <c:pt idx="2">
                  <c:v>API empreses (15%)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</c:v>
                </c:pt>
                <c:pt idx="1">
                  <c:v>30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604-42BC-AC21-500C2A0820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Usuaris actius</c:v>
                </c:pt>
              </c:strCache>
            </c:strRef>
          </c:tx>
          <c:spPr>
            <a:ln w="38100" cap="flat">
              <a:solidFill>
                <a:srgbClr val="1B4F9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4F9B"/>
              </a:solidFill>
              <a:ln w="9525" cap="flat">
                <a:solidFill>
                  <a:srgbClr val="1B4F9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A1628"/>
                    </a:solidFill>
                    <a:latin typeface="Arial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Any 1</c:v>
                </c:pt>
                <c:pt idx="1">
                  <c:v>Any 2</c:v>
                </c:pt>
                <c:pt idx="2">
                  <c:v>Any 3</c:v>
                </c:pt>
                <c:pt idx="3">
                  <c:v>Any 4</c:v>
                </c:pt>
                <c:pt idx="4">
                  <c:v>Any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500</c:v>
                </c:pt>
                <c:pt idx="1">
                  <c:v>1200</c:v>
                </c:pt>
                <c:pt idx="2">
                  <c:v>2800</c:v>
                </c:pt>
                <c:pt idx="3">
                  <c:v>5500</c:v>
                </c:pt>
                <c:pt idx="4">
                  <c:v>10000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805-4C81-B6B1-306A141592B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Apartaments</c:v>
                </c:pt>
              </c:strCache>
            </c:strRef>
          </c:tx>
          <c:spPr>
            <a:ln w="38100" cap="flat">
              <a:solidFill>
                <a:srgbClr val="05966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A1628"/>
                    </a:solidFill>
                    <a:latin typeface="Arial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Any 1</c:v>
                </c:pt>
                <c:pt idx="1">
                  <c:v>Any 2</c:v>
                </c:pt>
                <c:pt idx="2">
                  <c:v>Any 3</c:v>
                </c:pt>
                <c:pt idx="3">
                  <c:v>Any 4</c:v>
                </c:pt>
                <c:pt idx="4">
                  <c:v>Any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120</c:v>
                </c:pt>
                <c:pt idx="1">
                  <c:v>350</c:v>
                </c:pt>
                <c:pt idx="2">
                  <c:v>800</c:v>
                </c:pt>
                <c:pt idx="3">
                  <c:v>1600</c:v>
                </c:pt>
                <c:pt idx="4">
                  <c:v>3000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8805-4C81-B6B1-306A141592B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9707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Benvinguts a la presentació del projecte ApBarcelona. Som una plataforma web d'apartaments turístics que neix com a alternativa a Airbnb, oferint menys comissions, més transparència i control total per al propietari.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 que el projecte sorgeix d'una necessitat real: el mercat d'apartaments turístics està dominat per plataformes que cobren comissions molt elevades i no ofereixen transparència ni control als propietaris.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 les dades reals de comissions d'Airbnb. Destaca que per una reserva de 100€, el viatger pot acabar pagant fins a 160€ si sumes totes les taxes i comissions. Això és el problema central que volem resoldre.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mercat del lloguer vacacional no para de créixer. Destaca que el 40% de les reserves d'allotjament ja es fan online i que el sector creix un 12% anual. Això confirma que és un bon moment per entrar al mercat amb una proposta diferenciada.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presentes la solució completa. Insisteix en els dos punts clau: 0% de comissió als propietaris i preus transparents pels viatgers. Explica que tot el codi és propi i que les dades les controla el propietari, no una empresa tercera.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Llegeix la taula fil per fil. El punt més impactant és la comissió: 0% vs fins al 15%. Recorda al tribunal que això es tradueix en molts euros de diferència per a un propietari que lloga el seu apartament regularment.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Destaca que el viatger no paga cap comissió de servei. A Airbnb, per una reserva de 200€, el viatger pot acabar pagant 230–240€ entre taxes. A ApBarcelona, paga exactament 200€.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punt clau per als propietaris és clar: 0% de comissió. Posa un exemple: si un propietari factura 10.000€ a l'any, a Airbnb pot perdre fins a 1.500€ en comissions. Amb ApBarcelona, es queda tot.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Destaca que moltes d'aquestes innovacions estan planificades com a millores futures (IA, comparador). Però el xat integrat i el sistema de valoracions ja formen part del backlog del projecte.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Recorda que el model de 0% de comissions als propietaris no significa que la plataforma no generi ingressos. Els plans premium i la publicitat opcional permeten sostenir el negoci sense penalitzar els usuaris.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projeccions es basen en un creixement orgànic. El primer any és conservador (500 usuaris), però el boca-orella i el posicionament SEO local a Barcelona poden accelerar molt el creixement a partir del segon 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Resumeix els punts clau. El tribunal valorarà especialment: que el projecte sigui funcional, que hi hagi repositori GitHub actiu i que la documentació sigui completa. Recorda mencionar els 110 hores invertides.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 que el projecte actual és la Fase 1 (MVP funcional). Les fases 2, 3 i 4 marquen el full de ruta a curt, mig i llarg termini. Insisteix que el pagament online i l'app mòbil serien les primeres prioritats.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de preguntes. Prepara't per respondre: per què 0% de comissió és sostenible (plans premium), com funciona el sistema de backups, quines tecnologies has usat i com has organitzat el projecte (Kanban + GitHub).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731520"/>
            <a:ext cx="5029200" cy="5029200"/>
          </a:xfrm>
          <a:prstGeom prst="ellips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6217920" y="-182880"/>
            <a:ext cx="3840480" cy="3840480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059669">
              <a:alpha val="20000"/>
            </a:srgbClr>
          </a:solidFill>
          <a:ln w="12700">
            <a:solidFill>
              <a:srgbClr val="059669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Barcelona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32004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alternativa </a:t>
            </a:r>
            <a:r>
              <a:rPr lang="en-US" sz="1800" i="1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innovadora</a:t>
            </a: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i="1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</a:t>
            </a: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Airbnb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Enoch Cervera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SMIX · Imes Maresme · 2025–2026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9144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dirty="0">
                <a:solidFill>
                  <a:srgbClr val="000000"/>
                </a:solidFill>
              </a:rPr>
              <a:t>🏨</a:t>
            </a:r>
            <a:endParaRPr lang="en-US" sz="9000" dirty="0"/>
          </a:p>
        </p:txBody>
      </p:sp>
      <p:sp>
        <p:nvSpPr>
          <p:cNvPr id="12" name="Text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ApBarcelona · Projecte Intermodular 2025–2026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 problema resolem?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</a:t>
            </a:r>
            <a:r>
              <a:rPr lang="en-US" sz="1600" b="1" dirty="0" err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</a:t>
            </a: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</a:t>
            </a:r>
            <a:r>
              <a:rPr lang="en-US" sz="1600" b="1" dirty="0" err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</a:t>
            </a: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ApBarcelona és una plataforma web per a la gestió i reserva d'apartaments turístics a Barcelona. Desenvolupada com a projecte intermodular del cicle SMIX, permet publicar, cercar i reservar apartaments de forma senzilla, segura i sense intermediaris abusius.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514600"/>
            <a:ext cx="265176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274320" y="2514600"/>
            <a:ext cx="2651760" cy="73152"/>
          </a:xfrm>
          <a:prstGeom prst="rect">
            <a:avLst/>
          </a:prstGeom>
          <a:solidFill>
            <a:srgbClr val="1B4F9B"/>
          </a:solidFill>
          <a:ln w="12700">
            <a:solidFill>
              <a:srgbClr val="1B4F9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274320" y="262432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💸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65760" y="32278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Comissions abusives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3593592"/>
            <a:ext cx="2468880" cy="1161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cobra fins un 15% als propietaris i un 3% addicional als viatgers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2514600"/>
            <a:ext cx="265176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3200400" y="2514600"/>
            <a:ext cx="2651760" cy="73152"/>
          </a:xfrm>
          <a:prstGeom prst="rect">
            <a:avLst/>
          </a:prstGeom>
          <a:solidFill>
            <a:srgbClr val="1B4F9B"/>
          </a:solidFill>
          <a:ln w="12700">
            <a:solidFill>
              <a:srgbClr val="1B4F9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3200400" y="262432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291840" y="32278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control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3593592"/>
            <a:ext cx="2468880" cy="1161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 propietaris no tenen accés directe als seus clients ni a les seves dades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2514600"/>
            <a:ext cx="265176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6126480" y="2514600"/>
            <a:ext cx="2651760" cy="73152"/>
          </a:xfrm>
          <a:prstGeom prst="rect">
            <a:avLst/>
          </a:prstGeom>
          <a:solidFill>
            <a:srgbClr val="1B4F9B"/>
          </a:solidFill>
          <a:ln w="12700">
            <a:solidFill>
              <a:srgbClr val="1B4F9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6126480" y="262432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📉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217920" y="32278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Mercat en crisi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3593592"/>
            <a:ext cx="2468880" cy="1161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L'increment de preus expulsa els residents locals de les seves ciutats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Actual d'Airbnb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què el mercat necessita una alternativa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114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73152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Comissions elevades: 3–15% per transacció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1847088"/>
            <a:ext cx="4114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274320" y="1847088"/>
            <a:ext cx="73152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57200" y="189280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Preus poc transparents i taxes ocultes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505456"/>
            <a:ext cx="4114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274320" y="2505456"/>
            <a:ext cx="73152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57200" y="2551176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Dificultat per contactar directament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3163824"/>
            <a:ext cx="4114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274320" y="3163824"/>
            <a:ext cx="73152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457200" y="3209544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😤  Atenció al client deficient i lenta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4320" y="3822192"/>
            <a:ext cx="4114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274320" y="3822192"/>
            <a:ext cx="73152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57200" y="3867912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Increment abusiu de preus en temporada alta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663440" y="11887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extra per reserva (€100 de base)</a:t>
            </a:r>
            <a:endParaRPr lang="en-US" sz="120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4572000" y="1508760"/>
          <a:ext cx="42976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Anàlisi del Mercat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turisme digital creix any rere any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143000"/>
            <a:ext cx="1965960" cy="12801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182880" y="1207008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1.4B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82880" y="180136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turistes mundials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(2024)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04872" y="1143000"/>
            <a:ext cx="1965960" cy="12801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2404872" y="1207008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04872" y="180136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reserves online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allotjament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26864" y="1143000"/>
            <a:ext cx="1965960" cy="12801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626864" y="1207008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626864" y="180136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creixement anual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l'alquiler vacacional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48856" y="1143000"/>
            <a:ext cx="1965960" cy="12801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848856" y="1207008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€88B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848856" y="1801368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mercat global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alquiler vacacional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" y="26060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Usuaris de plataformes d'alquiler vacacional (milions)</a:t>
            </a:r>
            <a:endParaRPr lang="en-US" sz="12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274320" y="2926080"/>
          <a:ext cx="859536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Nostra Solució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ApBarcelona — Plataforma justa i transparent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143000"/>
            <a:ext cx="28346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1143000"/>
            <a:ext cx="283464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28600" y="125272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💡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0040" y="185623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senzilla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22199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Interfície intuïtiva per a propietaris i viatgers, sense corba d'aprenentatge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08960" y="1143000"/>
            <a:ext cx="28346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3108960" y="1143000"/>
            <a:ext cx="283464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108960" y="125272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📉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200400" y="185623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Menys comissions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0" y="222199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de comissió per als propietaris. Model sostenible amb plans premium opcionals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89320" y="1143000"/>
            <a:ext cx="28346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5989320" y="1143000"/>
            <a:ext cx="283464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5989320" y="125272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🎧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080760" y="185623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Millor atenció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80760" y="222199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 24/7 via xat integrat i correu electrònic amb resposta garantida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2834640"/>
            <a:ext cx="28346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228600" y="2834640"/>
            <a:ext cx="283464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228600" y="294436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320040" y="354787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Transparència total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0040" y="391363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Preus sense taxes ocultes. El viatger veu exactament el que pagarà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08960" y="2834640"/>
            <a:ext cx="28346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3108960" y="2834640"/>
            <a:ext cx="283464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3108960" y="294436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🛡️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3200400" y="354787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Seguretat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00400" y="391363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Contrasenyes encriptades amb bcrypt, sessions segures i verificació d'identitat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89320" y="2834640"/>
            <a:ext cx="28346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5989320" y="2834640"/>
            <a:ext cx="283464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5989320" y="294436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6080760" y="354787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Estadístiques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080760" y="391363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propietari té accés a totes les dades de les seves reserves i ingressos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Comparativa: ApBarcelona vs Airbnb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què som la millor opció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412480" cy="3438144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Característica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ApBarcelona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Airbnb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Comissions propietari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3–15%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Transparència de preus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— sense taxes ocultes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Mitjana — taxes variables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Atenció al client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24/7 xat + correu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Limitada i lenta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Suport propietaris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 + estadístiques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Bàsic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Preus clars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 — preu final visible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sempre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de dades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propietari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Airbnb ho controla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Codi/plataforma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Obert i personalitzable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Propietari tancat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Avantatges per als Viatgers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experiència de reserva millor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143000"/>
            <a:ext cx="15544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1143000"/>
            <a:ext cx="1554480" cy="73152"/>
          </a:xfrm>
          <a:prstGeom prst="rect">
            <a:avLst/>
          </a:prstGeom>
          <a:solidFill>
            <a:srgbClr val="1B4F9B"/>
          </a:solidFill>
          <a:ln w="12700">
            <a:solidFill>
              <a:srgbClr val="1B4F9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28600" y="125272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0040" y="18562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Menors costos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221992"/>
            <a:ext cx="1371600" cy="2395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comissions de servei ni taxes ocultes. El preu que veus és el que pagues.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29968" y="1143000"/>
            <a:ext cx="15544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2029968" y="1143000"/>
            <a:ext cx="1554480" cy="73152"/>
          </a:xfrm>
          <a:prstGeom prst="rect">
            <a:avLst/>
          </a:prstGeom>
          <a:solidFill>
            <a:srgbClr val="1B4F9B"/>
          </a:solidFill>
          <a:ln w="12700">
            <a:solidFill>
              <a:srgbClr val="1B4F9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2029968" y="125272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🖱️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121408" y="18562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Reserves senzilles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21408" y="2221992"/>
            <a:ext cx="1371600" cy="2395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Procés de reserva en 3 passos: cerca, selecciona i confirma.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31336" y="1143000"/>
            <a:ext cx="15544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3831336" y="1143000"/>
            <a:ext cx="1554480" cy="73152"/>
          </a:xfrm>
          <a:prstGeom prst="rect">
            <a:avLst/>
          </a:prstGeom>
          <a:solidFill>
            <a:srgbClr val="1B4F9B"/>
          </a:solidFill>
          <a:ln w="12700">
            <a:solidFill>
              <a:srgbClr val="1B4F9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3831336" y="125272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922776" y="18562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 ràpida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922776" y="2221992"/>
            <a:ext cx="1371600" cy="2395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garantida en menys de 2 hores per qualsevol incidència.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32704" y="1143000"/>
            <a:ext cx="15544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5632704" y="1143000"/>
            <a:ext cx="1554480" cy="73152"/>
          </a:xfrm>
          <a:prstGeom prst="rect">
            <a:avLst/>
          </a:prstGeom>
          <a:solidFill>
            <a:srgbClr val="1B4F9B"/>
          </a:solidFill>
          <a:ln w="12700">
            <a:solidFill>
              <a:srgbClr val="1B4F9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5632704" y="125272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724144" y="18562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 clara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24144" y="2221992"/>
            <a:ext cx="1371600" cy="2395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Fitxa completa de cada apartament: fotos, descripció, barri i preus per nit.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434072" y="1143000"/>
            <a:ext cx="155448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7434072" y="1143000"/>
            <a:ext cx="1554480" cy="73152"/>
          </a:xfrm>
          <a:prstGeom prst="rect">
            <a:avLst/>
          </a:prstGeom>
          <a:solidFill>
            <a:srgbClr val="1B4F9B"/>
          </a:solidFill>
          <a:ln w="12700">
            <a:solidFill>
              <a:srgbClr val="1B4F9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7434072" y="125272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🤝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525512" y="18562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confiança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525512" y="2221992"/>
            <a:ext cx="1371600" cy="2395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 d'usuaris i sistema de valoracions transparent i real.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122040"/>
          </a:solidFill>
          <a:ln w="12700">
            <a:solidFill>
              <a:srgbClr val="12204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Objectiu: que el viatger pagui el preu just, sense sorpreses al checkout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Avantatges per als Propietaris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Més beneficis, menys intermediaris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3891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73152" cy="5669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Més beneficis nets — 0% de comissió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847088"/>
            <a:ext cx="43891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274320" y="1847088"/>
            <a:ext cx="73152" cy="5669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457200" y="1892808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 Major visibilitat — apareix als resultats sense pagar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505456"/>
            <a:ext cx="43891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274320" y="2505456"/>
            <a:ext cx="73152" cy="5669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57200" y="2551176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Eines de gestió — calendari, reserves, historial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163824"/>
            <a:ext cx="43891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274320" y="3163824"/>
            <a:ext cx="73152" cy="5669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457200" y="3209544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Estadístiques de reserves en temps real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822192"/>
            <a:ext cx="43891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274320" y="3822192"/>
            <a:ext cx="73152" cy="5669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457200" y="3867912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  Notificació per correu de cada nova reserva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1188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 dels ingressos amb ApBarcelona</a:t>
            </a:r>
            <a:endParaRPr lang="en-US" sz="120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4846320" y="1508760"/>
          <a:ext cx="402336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Shape 20"/>
          <p:cNvSpPr/>
          <p:nvPr/>
        </p:nvSpPr>
        <p:spPr>
          <a:xfrm>
            <a:off x="4846320" y="4023360"/>
            <a:ext cx="4023360" cy="73152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1"/>
          <p:cNvSpPr/>
          <p:nvPr/>
        </p:nvSpPr>
        <p:spPr>
          <a:xfrm>
            <a:off x="4937760" y="40690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Airbnb: el propietari cedeix fins al 15% de cada reserva.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Barcelona: el propietari es queda el 100%.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Innovacions de la Plataforma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 al servei de l'usuari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1508760" cy="35661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150876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74320" y="1170432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47472" y="171907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per recomanacions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7472" y="2286000"/>
            <a:ext cx="1371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L'algoritme analitza l'historial i suggereix apartaments personalitzats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783080" y="2926080"/>
            <a:ext cx="27432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2103120" y="1143000"/>
            <a:ext cx="1508760" cy="35661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2103120" y="1143000"/>
            <a:ext cx="1508760" cy="502920"/>
          </a:xfrm>
          <a:prstGeom prst="rect">
            <a:avLst/>
          </a:prstGeom>
          <a:solidFill>
            <a:srgbClr val="1B4F9B"/>
          </a:solidFill>
          <a:ln w="12700">
            <a:solidFill>
              <a:srgbClr val="1B4F9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2103120" y="1170432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⭐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176272" y="171907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Valoracions avançades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176272" y="2286000"/>
            <a:ext cx="1371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puntuació verificat: només opinen usuaris que han reservat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11880" y="2926080"/>
            <a:ext cx="27432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3931920" y="1143000"/>
            <a:ext cx="1508760" cy="35661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3931920" y="1143000"/>
            <a:ext cx="150876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3931920" y="1170432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005072" y="171907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Comparador de preus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005072" y="2286000"/>
            <a:ext cx="1371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automàticament preus entre apartaments similars del mateix barri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40680" y="2926080"/>
            <a:ext cx="27432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5760720" y="1143000"/>
            <a:ext cx="1508760" cy="35661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5760720" y="1143000"/>
            <a:ext cx="1508760" cy="502920"/>
          </a:xfrm>
          <a:prstGeom prst="rect">
            <a:avLst/>
          </a:prstGeom>
          <a:solidFill>
            <a:srgbClr val="1B4F9B"/>
          </a:solidFill>
          <a:ln w="12700">
            <a:solidFill>
              <a:srgbClr val="1B4F9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5760720" y="1170432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833872" y="171907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Xat integrat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833872" y="2286000"/>
            <a:ext cx="1371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 directa i en temps real entre viatger i propietari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269480" y="2926080"/>
            <a:ext cx="27432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7406640" y="1143000"/>
            <a:ext cx="1508760" cy="35661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7406640" y="1143000"/>
            <a:ext cx="150876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7406640" y="1170432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479792" y="171907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 simplificada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479792" y="2286000"/>
            <a:ext cx="1371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propietari gestiona tot des d'un únic panell: reserves, preus i fotografies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 Negoci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es genera valor de forma sostenible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5720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73152" cy="10515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Plans Premium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581912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Propietaris amb múltiples apartaments poden contractar un pla premium amb visibilitat prioritària i eines avançades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377440"/>
            <a:ext cx="45720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274320" y="2377440"/>
            <a:ext cx="73152" cy="10515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57200" y="242316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Publicitat opcional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770632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Espais publicitaris no intrusius per a serveis relacionats amb el turisme (transport, restauració, activitats)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566160"/>
            <a:ext cx="45720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274320" y="3566160"/>
            <a:ext cx="73152" cy="10515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457200" y="361188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API per empreses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959352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agències de viajes poden integrar-se via API per accedir al catàleg d'apartaments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20640" y="1188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 d'ingressos projectada</a:t>
            </a:r>
            <a:endParaRPr lang="en-US" sz="12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5029200" y="1508760"/>
          <a:ext cx="38404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Impacte Esperat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Creixement projectat a 5 anys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560320" cy="11887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256032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274320" y="120700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74320" y="180136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usuaris registrats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primer any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143000"/>
            <a:ext cx="2560320" cy="11887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3200400" y="1143000"/>
            <a:ext cx="256032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3200400" y="120700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120+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200400" y="180136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apartaments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plataforma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143000"/>
            <a:ext cx="2560320" cy="11887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6126480" y="1143000"/>
            <a:ext cx="256032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126480" y="120700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€45K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126480" y="180136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estalvi acumulat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pels propietaris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" y="2468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Creixement projectat d'usuaris actius (5 anys)</a:t>
            </a:r>
            <a:endParaRPr lang="en-US" sz="12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274320" y="2788920"/>
          <a:ext cx="859536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1E3A5F">
              <a:alpha val="30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059669">
              <a:alpha val="18000"/>
            </a:srgbClr>
          </a:solidFill>
          <a:ln w="12700">
            <a:solidFill>
              <a:srgbClr val="059669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32004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Solucionem els problemes reals del mercat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Millor experiència per a viatgers i propietaris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0% comissió — model just i sostenible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Plataforma moderna, segura i escalable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337560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Codi propi — control total de les dades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886200"/>
            <a:ext cx="5029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Projecte funcional i documentat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0" y="91440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dirty="0">
                <a:solidFill>
                  <a:srgbClr val="000000"/>
                </a:solidFill>
              </a:rPr>
              <a:t>🏆</a:t>
            </a:r>
            <a:endParaRPr lang="en-US" sz="12000" dirty="0"/>
          </a:p>
        </p:txBody>
      </p:sp>
      <p:sp>
        <p:nvSpPr>
          <p:cNvPr id="14" name="Text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ApBarcelona · github.com/EnochCervera007/ProyectoIntermodular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987552"/>
            <a:ext cx="914400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Millores Futures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 ruta del projecte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143000"/>
            <a:ext cx="28346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228600" y="1143000"/>
            <a:ext cx="2834640" cy="73152"/>
          </a:xfrm>
          <a:prstGeom prst="rect">
            <a:avLst/>
          </a:prstGeom>
          <a:solidFill>
            <a:srgbClr val="1B4F9B"/>
          </a:solidFill>
          <a:ln w="12700">
            <a:solidFill>
              <a:srgbClr val="1B4F9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301752" y="1252728"/>
            <a:ext cx="822960" cy="256032"/>
          </a:xfrm>
          <a:prstGeom prst="rect">
            <a:avLst/>
          </a:prstGeom>
          <a:solidFill>
            <a:srgbClr val="1B4F9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01752" y="15544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App mòbil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1752" y="1947672"/>
            <a:ext cx="26883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 nativa per a iOS i Android amb React Native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08960" y="1143000"/>
            <a:ext cx="28346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3108960" y="1143000"/>
            <a:ext cx="2834640" cy="73152"/>
          </a:xfrm>
          <a:prstGeom prst="rect">
            <a:avLst/>
          </a:prstGeom>
          <a:solidFill>
            <a:srgbClr val="1B4F9B"/>
          </a:solidFill>
          <a:ln w="12700">
            <a:solidFill>
              <a:srgbClr val="1B4F9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3182112" y="1252728"/>
            <a:ext cx="822960" cy="256032"/>
          </a:xfrm>
          <a:prstGeom prst="rect">
            <a:avLst/>
          </a:prstGeom>
          <a:solidFill>
            <a:srgbClr val="1B4F9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182112" y="15544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IA avançada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82112" y="1947672"/>
            <a:ext cx="26883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recomanació personalitzat basat en Machine Learning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89320" y="1143000"/>
            <a:ext cx="28346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5989320" y="1143000"/>
            <a:ext cx="283464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6062472" y="1252728"/>
            <a:ext cx="822960" cy="256032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062472" y="15544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Fidelització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62472" y="1947672"/>
            <a:ext cx="26883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punts i descomptes per a usuaris recurrents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2834640"/>
            <a:ext cx="28346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228600" y="2834640"/>
            <a:ext cx="283464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301752" y="2944368"/>
            <a:ext cx="822960" cy="256032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01752" y="32461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Reserves instantànies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01752" y="3639312"/>
            <a:ext cx="26883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 automàtica sense esperar aprovació del propietari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08960" y="2834640"/>
            <a:ext cx="28346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3108960" y="2834640"/>
            <a:ext cx="2834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3182112" y="2944368"/>
            <a:ext cx="822960" cy="256032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182112" y="32461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Expansió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182112" y="3639312"/>
            <a:ext cx="26883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Obertura a altres ciutats: Madrid, Valencia, Sevilla i Europa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89320" y="2834640"/>
            <a:ext cx="28346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5989320" y="2834640"/>
            <a:ext cx="2834640" cy="73152"/>
          </a:xfrm>
          <a:prstGeom prst="rect">
            <a:avLst/>
          </a:prstGeom>
          <a:solidFill>
            <a:srgbClr val="1B4F9B"/>
          </a:solidFill>
          <a:ln w="12700">
            <a:solidFill>
              <a:srgbClr val="1B4F9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6062472" y="2944368"/>
            <a:ext cx="822960" cy="256032"/>
          </a:xfrm>
          <a:prstGeom prst="rect">
            <a:avLst/>
          </a:prstGeom>
          <a:solidFill>
            <a:srgbClr val="1B4F9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062472" y="32461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Pagament online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062472" y="3639312"/>
            <a:ext cx="26883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 amb Stripe i PayPal per a pagaments segurs en línia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4320" y="4645152"/>
            <a:ext cx="2011680" cy="347472"/>
          </a:xfrm>
          <a:prstGeom prst="rect">
            <a:avLst/>
          </a:prstGeom>
          <a:solidFill>
            <a:srgbClr val="1B4F9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2: Curt termini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423160" y="4645152"/>
            <a:ext cx="2011680" cy="347472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3: Mig termini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572000" y="4645152"/>
            <a:ext cx="2011680" cy="347472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4: Llarg termini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457200"/>
            <a:ext cx="6400800" cy="6400800"/>
          </a:xfrm>
          <a:prstGeom prst="ellipse">
            <a:avLst/>
          </a:prstGeom>
          <a:solidFill>
            <a:srgbClr val="1E3A5F">
              <a:alpha val="35000"/>
            </a:srgbClr>
          </a:solidFill>
          <a:ln w="12700">
            <a:solidFill>
              <a:srgbClr val="1E3A5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-914400" y="2286000"/>
            <a:ext cx="3657600" cy="3657600"/>
          </a:xfrm>
          <a:prstGeom prst="ellipse">
            <a:avLst/>
          </a:prstGeom>
          <a:solidFill>
            <a:srgbClr val="059669">
              <a:alpha val="18000"/>
            </a:srgbClr>
          </a:solidFill>
          <a:ln w="12700">
            <a:solidFill>
              <a:srgbClr val="059669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3200400" y="18288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Preguntes?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2743200" y="2926080"/>
            <a:ext cx="36576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Enoch Cervera  </a:t>
            </a: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SMIX · Imes Maresme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63931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github.com/EnochCervera007/ProyectoIntermodular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1528</Words>
  <Application>Microsoft Office PowerPoint</Application>
  <PresentationFormat>Presentación en pantalla (16:9)</PresentationFormat>
  <Paragraphs>222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Plataforma de Alojamiento Turístico Inteligente</dc:title>
  <dc:subject>PptxGenJS Presentation</dc:subject>
  <dc:creator>Enoch Cervera</dc:creator>
  <cp:lastModifiedBy>Enoch Cervera Milán</cp:lastModifiedBy>
  <cp:revision>2</cp:revision>
  <dcterms:created xsi:type="dcterms:W3CDTF">2026-05-31T19:45:29Z</dcterms:created>
  <dcterms:modified xsi:type="dcterms:W3CDTF">2026-05-31T19:59:55Z</dcterms:modified>
</cp:coreProperties>
</file>